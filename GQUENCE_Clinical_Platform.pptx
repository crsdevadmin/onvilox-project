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247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E2247"/>
                </a:solidFill>
                <a:latin typeface="Cambria"/>
              </a:rPr>
              <a:t>Data captured during the pilot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Daily intake logs</c:v>
                  </c:pt>
                  <c:pt idx="1">
                    <c:v>Weekly clinical reviews</c:v>
                  </c:pt>
                  <c:pt idx="2">
                    <c:v>Products dispatched</c:v>
                  </c:pt>
                  <c:pt idx="3">
                    <c:v>Patients enrolled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816</c:v>
                </c:pt>
                <c:pt idx="1">
                  <c:v>109</c:v>
                </c:pt>
                <c:pt idx="2">
                  <c:v>118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GQUENCE turns nutritional care in oncology from a manual, inconsistent process into a governed clinical system. Pilot: 45 patients in a live oncology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clinical problem before showing software. They already believe 1 and 2 — points 3 and 4 are the gap the product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tools do one of these. The value is that all three are joined and audited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Clinicians can inspect and change every constant through the Rule Engine — the platform does not hide its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slide. Clinicians respect a system that protects them. Demo live on a real patient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 of custody matters for clinical governance and any future regulatory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clinical differentiator: a plan calculated at diagnosis is obsolete within a fortnight. The weekly loop makes it a system, not a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slide for a clinical audience. The tool works for the doctor, not the reverse. Alarm fatigue is addressed explicitly — expect that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Adherence honesty is a credibility point — we distinguish "not recorded" from "not taken". Most systems conflate them and overstate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clinicians who run trials this is a major draw — data collection burden is the usual barrier, and here it falls out of routine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verified from the production database: 925 = 816 daily + 109 weekly. These are engagement and scale figures, not efficacy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limitations is the strongest credibility move with a clinical audience. They will look for them regardless.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against what the audience already has. The honest claim is integration, not novelty of any single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clinical critique first. Inviting them to find fault is disarming and signals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GQUENCE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Nutrition Intelligence for Oncology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nutritional prescribing, manufacturing and outcome tracking —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clinically governed platform.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evidence · 45 patients · 925 monitoring records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Malnutrition is treated as a side issue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it decides whether treatment can continue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43584" y="1536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Cachexia is near-universal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3584" y="18288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80% of advanced cancer patients develop malnutrition; it is implicated in roughly 20% of cancer deaths.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43584" y="27066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plans are manual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43584" y="299923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by hand, inconsistently, and rarely revised as the patient changes through treatment cycles.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13632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43584" y="38770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sees deterioration early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43584" y="41696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loss, falling albumin and rising inflammation are noticed at the next visit — often weeks late.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84064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" y="50474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it was delivered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534009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patient received or consumed the supplement is usually unknown and unrecorded.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1517904"/>
            <a:ext cx="4114800" cy="4206240"/>
          </a:xfrm>
          <a:prstGeom prst="roundRect">
            <a:avLst>
              <a:gd name="adj" fmla="val 1333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getting it wrong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90688" y="257860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delays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0" y="2743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reductions and interruptions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90688" y="332841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admissions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46720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complication rates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90688" y="4078224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Poorer tolerance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46720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response to therapy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90688" y="482803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4736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trial data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46720" y="4992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rarely captured rigorously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clinical jobs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prescription through manufacture to measured outcome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6118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0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77824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PRESCRIBE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303580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rules-based engine computes an individualised nutritional prescription from anthropometry, biochemistry, cancer type and the active chemotherapy regimen.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627632"/>
            <a:ext cx="36118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1920240"/>
            <a:ext cx="566928" cy="56692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18304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18304" y="303580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prescription becomes a batch-tracked product with two-stage store approval, label printing and full dispatch chain of custody.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47888" y="1627632"/>
            <a:ext cx="36118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8784" y="19202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558784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58784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58784" y="303580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reviews recompute the prescription; daily logs record actual intake. Deterioration is flagged automatically against ESPEN / GLIM criteria.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auditable: who calculated it, who approved it, when it was made, when it reached the patient.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clinical engine, not a calculator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constant is configurable and version-controlled — not hard-coded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883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37360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parameters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572768"/>
            <a:ext cx="26883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737360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10712" y="237744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&amp; radiation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1572768"/>
            <a:ext cx="26883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737360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54496" y="237744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safety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572768"/>
            <a:ext cx="26883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737360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280" y="237744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phenotypes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19856"/>
            <a:ext cx="54406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210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engine reasons over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968496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Anthropometry — weight, height, BMI, MUAC, grip strength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Biochemistry — albumin, CRP, haemoglobin, glucose, creatinine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— cancer site, stage, ECOG performance status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— active regimen, radiation field, treatment phase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— dysphagia, mucositis, nausea, GI toxicity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3419856"/>
            <a:ext cx="5431536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1384" y="36210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clinical formulations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19672" y="4050792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39593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oncology formulation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19672" y="4453128"/>
            <a:ext cx="137160" cy="1371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4361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Hydrolyzed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361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Peptides for GI toxicity / malabsorption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19672" y="4855464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4764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0" y="47640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carbohydrate, higher fat ratio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19672" y="525780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5166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Anti-inflammatory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0" y="51663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omega-3 for high CRP states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catches what a busy clinic misses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Drug–nutrient interactions surfaced at the point of prescribing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6675120" cy="3977640"/>
          </a:xfrm>
          <a:prstGeom prst="roundRect">
            <a:avLst>
              <a:gd name="adj" fmla="val 1379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288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Cisplatin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2128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detects the regimen and raises the associated protocol automatically: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670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magnesium wasting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1732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magnesium protocol initiated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392424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3649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Nephrotoxicity risk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17320" y="3621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creatinine monitoring enforced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4087368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059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1732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&gt; 1.5 mg/dL — hold Cisplatin, escalate to nephrology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7823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82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adequacy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17320" y="5010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threshold raised to counteract catabolism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1572768"/>
            <a:ext cx="4178808" cy="3977640"/>
          </a:xfrm>
          <a:prstGeom prst="roundRect">
            <a:avLst>
              <a:gd name="adj" fmla="val 1379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54112" y="1810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covered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754112" y="2212848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Gemcitabine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Taxanes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Fluoropyrimidines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Irinotecan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/ antifolates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Bevacizumab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R-CHOP components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Bortezomib · Lenalidomide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(PARP inhibitor)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/ abdominal radiation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chain of custody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every transition timestamped and attributed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700784" cy="2286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128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288950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created with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clinical 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76856" y="274320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50592" y="1965960"/>
            <a:ext cx="1700784" cy="2286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26664" y="22128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026664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50592" y="288950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generates the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prescription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274320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34256" y="1965960"/>
            <a:ext cx="1700784" cy="2286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0328" y="2212848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34256" y="288950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25696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reviews, adjusts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signs off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44184" y="274320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17920" y="1965960"/>
            <a:ext cx="1700784" cy="2286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93992" y="2212848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6793992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17920" y="288950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produces to batch,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approval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27848" y="274320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101584" y="1965960"/>
            <a:ext cx="1700784" cy="2286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77656" y="221284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677656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101584" y="288950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93024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Labelled, batch-coded,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recorded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11512" y="274320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85248" y="1965960"/>
            <a:ext cx="1700784" cy="2286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61320" y="221284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1056132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985248" y="288950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76688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recomputes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prescription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feeds step 2 — the prescription adapts every week rather than being set once at diagnosis.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6928" y="51389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Doctor · Assistant · Store Manager · Store Approver · Admin · Super Admin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prescription changes as the patient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review recomputes targets from fresh measurements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weekly review captures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96112" y="235915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2267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BMI, MUAC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2267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anthropometric trajectory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96112" y="288950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grip strength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2798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muscle status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" y="3419856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Albumin, CRP, glucose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&amp; inflammatory state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3950208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3858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91840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status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448056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intake 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9184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patient managed to eat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" y="501091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144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compliance 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4919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consumed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1645920"/>
            <a:ext cx="5596128" cy="3931920"/>
          </a:xfrm>
          <a:prstGeom prst="roundRect">
            <a:avLst>
              <a:gd name="adj" fmla="val 1395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1874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it recalculates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355080" y="2331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protein targets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55080" y="258775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against current weight and catabolic state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136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recipe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55080" y="339242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Protein, MCT, omega-3, glutamine quantities regenerated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941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switch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55080" y="419709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 hydrolyzed or anti-inflammatory as the phenotype changes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47457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batch code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55080" y="50017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Week-stamped, traceable to that specific prescription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5138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doctor approval before it reaches manufacturing.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tells you who is deteriorating — today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against ESPEN / GLIM criteria, with the reasoning shown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739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Needing Attention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937760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7488" y="1737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94960" y="17373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01968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1696" y="1737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059168" y="17373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66176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737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723376" y="17373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30384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40112" y="1737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387584" y="17373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monitored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2468880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weight loss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3957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3.8%/week — exceeds the 2%/week malnutrition threshold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" y="2889504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2816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catabolism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28163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 falling while CRP rises — nutrition alone will not reverse this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" y="3310128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3236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intake failure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2369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30% of requirement met orally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4078224"/>
            <a:ext cx="36118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427939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not total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45537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4% over seven weeks is background drift. Losing 4% over two weeks is an emergency. The panel ranks by velocity.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07408" y="4078224"/>
            <a:ext cx="36118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4279392"/>
            <a:ext cx="146304" cy="1463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always shown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63440" y="45537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bare score. Each flag states the measurement, the threshold and why it matters clinically.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47888" y="4078224"/>
            <a:ext cx="36118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03920" y="427939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9952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selective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03920" y="45537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oral intake is the norm in head &amp; neck cancer. Flagging it would bury the real signal, so only severe failure escalates.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the patient actually received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adherence, and the supply gap predicted before it happens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577840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470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Adherence, measured honestly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212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7128" y="228600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68296" y="2212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65576" y="228600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212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64024" y="2286000"/>
            <a:ext cx="146304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212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monitored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7844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7008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6172" y="2615184"/>
            <a:ext cx="13258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5336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14500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83664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2828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1992" y="2615184"/>
            <a:ext cx="132588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91156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29484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98648" y="2615184"/>
            <a:ext cx="132588" cy="2194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7812" y="2615184"/>
            <a:ext cx="132588" cy="2194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6976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06140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75304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4468" y="2615184"/>
            <a:ext cx="13258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13632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82796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21124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9452" y="2615184"/>
            <a:ext cx="132588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28616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97780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66944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36108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05272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74436" y="2615184"/>
            <a:ext cx="132588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2889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square per day from first dispatch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68680" y="33101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868680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532888" y="33101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000" dirty="0"/>
          </a:p>
        </p:txBody>
      </p:sp>
      <p:sp>
        <p:nvSpPr>
          <p:cNvPr id="48" name="Text 46"/>
          <p:cNvSpPr/>
          <p:nvPr/>
        </p:nvSpPr>
        <p:spPr>
          <a:xfrm>
            <a:off x="2532888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days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97096" y="33101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50" name="Text 48"/>
          <p:cNvSpPr/>
          <p:nvPr/>
        </p:nvSpPr>
        <p:spPr>
          <a:xfrm>
            <a:off x="4197096" y="3950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gap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(days)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8680" y="46817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with no log counts as unmonitored — never silently as a missed dose.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0" y="1627632"/>
            <a:ext cx="5230368" cy="3639312"/>
          </a:xfrm>
          <a:prstGeom prst="roundRect">
            <a:avLst>
              <a:gd name="adj" fmla="val 1508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702552" y="18470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predicted, not reported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6702552" y="223113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dispatched product covers seven days. The platform knows when every patient runs out — and whether anything is in production to replace it.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702552" y="3017520"/>
            <a:ext cx="4663440" cy="566928"/>
          </a:xfrm>
          <a:prstGeom prst="roundRect">
            <a:avLst>
              <a:gd name="adj" fmla="val 806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3236976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14032" y="31455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left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778240" y="31455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production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702552" y="3675888"/>
            <a:ext cx="4663440" cy="566928"/>
          </a:xfrm>
          <a:prstGeom prst="roundRect">
            <a:avLst>
              <a:gd name="adj" fmla="val 806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3895344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14032" y="38039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supply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778240" y="3803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past cover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702552" y="4334256"/>
            <a:ext cx="4663440" cy="566928"/>
          </a:xfrm>
          <a:prstGeom prst="roundRect">
            <a:avLst>
              <a:gd name="adj" fmla="val 806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58000" y="4553712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14032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778240" y="44622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already approved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702552" y="4956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gaps get prevented, not documented after the fact.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Research-grade data as a by-product of care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CRF, no retrospective chart review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6118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35608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 log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43230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IDs, consent dates, cohort status derived automatically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609344"/>
            <a:ext cx="36118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847088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6088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dashboard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81728" y="243230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curve, per-site comparison, status distribution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47888" y="1609344"/>
            <a:ext cx="36118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184708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16568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22208" y="243230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weekly and daily records per patient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374136"/>
            <a:ext cx="36118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61188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3685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summary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4197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baseline-vs-latest analysis with dispersion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7408" y="3374136"/>
            <a:ext cx="36118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3611880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76088" y="3685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tracking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81728" y="4197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and batch each patient received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47888" y="3374136"/>
            <a:ext cx="36118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22208" y="361188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522208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16568" y="3685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22208" y="4197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dataset, analysis-ready, plus formatted report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honest by design: paired comparisons only, dispersion reported with every mean, and study limitations printed on the same page as the results.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pilot, real clinical use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 — running in an oncology centre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1907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3591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enrolled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600200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71907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10712" y="23591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manufactured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dispatched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1600200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71907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54496" y="23591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600200"/>
            <a:ext cx="26883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71907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280" y="23591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maximum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to date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" y="3346704"/>
          <a:ext cx="6675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452360" y="3346704"/>
            <a:ext cx="4178808" cy="2377440"/>
          </a:xfrm>
          <a:prstGeom prst="roundRect">
            <a:avLst>
              <a:gd name="adj" fmla="val 2308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54112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pilot proves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54112" y="3986784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will use it in a live clinic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manufacturing chain works end to end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data accumulates reliably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handles real case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outcomes are reported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live from the platform — and deliberately conservative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10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baseline vs latest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2249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0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 ± standard error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346704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 ± standard error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858768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785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0" y="37856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— falling is improvement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37083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 ± standard error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488289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809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strength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26080" y="4809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 ± standard error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486460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metric: proportion of patients who held or gained weight — because in advanced cancer, maintenance is the therapeutic goal.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5458968" cy="4023360"/>
          </a:xfrm>
          <a:prstGeom prst="roundRect">
            <a:avLst>
              <a:gd name="adj" fmla="val 1364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3952" y="18105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limitations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73952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on the same page as the results — never in a footnote: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271576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6060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Single-arm pilot — no control group, so change cannot be attributed to the supplement alone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44728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33375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receive concurrent oncological treatment, which independently affects every measure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417880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40690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patients with both a baseline and follow-up value count for each metric — n varies by row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491032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480060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 and CRP are acute-phase reactants and move with infection and treatment cycles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73952" y="5285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hides its limitations should not be trusted with clinical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different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it fills is between calculation and care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164592" cy="16459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92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nutrition calculators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79222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target and stop. No oncology logic, no drug interactions, no follow-through.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688336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72384"/>
            <a:ext cx="164592" cy="16459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EMR modules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834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was ordered. They do not compute the prescription, manufacture it, or measure adherence.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730752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114800"/>
            <a:ext cx="164592" cy="16459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7705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Paper-based dietetics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877056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sound but unscalable, inconsistent between practitioners, and invisible to research.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773168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15721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9194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GQUENCE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49194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Computes, safety-checks, manufactures to batch, dispatches, tracks consumption and flags deterioration — one governed loop.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5120640"/>
            <a:ext cx="3291840" cy="32918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-1005840"/>
            <a:ext cx="2377440" cy="2377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asking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2082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6464" y="1965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26464" y="23134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engine against your own protocols and tell us where it is wrong.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26464" y="30998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pilot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26464" y="34472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cohort with structured follow-up, to move from engagement data to outcome evidence.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8853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26464" y="42336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partnership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26464" y="45811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Multi-centre deployment — the platform already supports per-site cohort comparison.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1965960"/>
            <a:ext cx="3749040" cy="2395728"/>
          </a:xfrm>
          <a:prstGeom prst="roundRect">
            <a:avLst>
              <a:gd name="adj" fmla="val 2290"/>
            </a:avLst>
          </a:prstGeom>
          <a:solidFill>
            <a:srgbClr val="1B3A6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21579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today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83880" y="2523744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 production clinic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governed user roles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per patient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export built 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clinical rules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58064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GQUENCE · Clinical Nutrition Intelligence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GQUENCE Clinical Nutrition Platform</dc:title>
  <dc:subject>PptxGenJS Presentation</dc:subject>
  <dc:creator>GQUENCE</dc:creator>
  <cp:lastModifiedBy>GQUENCE</cp:lastModifiedBy>
  <cp:revision>1</cp:revision>
  <dcterms:created xsi:type="dcterms:W3CDTF">2026-08-10T02:10:41Z</dcterms:created>
  <dcterms:modified xsi:type="dcterms:W3CDTF">2026-08-10T02:10:41Z</dcterms:modified>
</cp:coreProperties>
</file>